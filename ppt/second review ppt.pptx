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74" r:id="rId6"/>
    <p:sldId id="275" r:id="rId7"/>
    <p:sldId id="264" r:id="rId8"/>
    <p:sldId id="265" r:id="rId9"/>
    <p:sldId id="266" r:id="rId10"/>
    <p:sldId id="28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83" r:id="rId19"/>
    <p:sldId id="278" r:id="rId20"/>
    <p:sldId id="281" r:id="rId21"/>
    <p:sldId id="290" r:id="rId22"/>
    <p:sldId id="291" r:id="rId23"/>
    <p:sldId id="282" r:id="rId24"/>
    <p:sldId id="288" r:id="rId25"/>
    <p:sldId id="289" r:id="rId2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41" autoAdjust="0"/>
  </p:normalViewPr>
  <p:slideViewPr>
    <p:cSldViewPr>
      <p:cViewPr varScale="1">
        <p:scale>
          <a:sx n="82" d="100"/>
          <a:sy n="82" d="100"/>
        </p:scale>
        <p:origin x="691" y="4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4A27D-F307-4680-931B-5EC50793CDFE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E51AE-8570-45C7-8A57-3492F96815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E51AE-8570-45C7-8A57-3492F96815A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E51AE-8570-45C7-8A57-3492F96815A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E51AE-8570-45C7-8A57-3492F96815A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" y="0"/>
            <a:ext cx="863600" cy="1691005"/>
          </a:xfrm>
          <a:custGeom>
            <a:avLst/>
            <a:gdLst/>
            <a:ahLst/>
            <a:cxnLst/>
            <a:rect l="l" t="t" r="r" b="b"/>
            <a:pathLst>
              <a:path w="863600" h="1691005">
                <a:moveTo>
                  <a:pt x="863600" y="0"/>
                </a:moveTo>
                <a:lnTo>
                  <a:pt x="0" y="0"/>
                </a:lnTo>
                <a:lnTo>
                  <a:pt x="0" y="1690751"/>
                </a:lnTo>
                <a:lnTo>
                  <a:pt x="863600" y="1690751"/>
                </a:lnTo>
                <a:lnTo>
                  <a:pt x="863600" y="0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63600" y="0"/>
            <a:ext cx="11328400" cy="1691005"/>
          </a:xfrm>
          <a:custGeom>
            <a:avLst/>
            <a:gdLst/>
            <a:ahLst/>
            <a:cxnLst/>
            <a:rect l="l" t="t" r="r" b="b"/>
            <a:pathLst>
              <a:path w="11328400" h="1691005">
                <a:moveTo>
                  <a:pt x="6369431" y="0"/>
                </a:moveTo>
                <a:lnTo>
                  <a:pt x="4523219" y="0"/>
                </a:lnTo>
                <a:lnTo>
                  <a:pt x="1721358" y="0"/>
                </a:lnTo>
                <a:lnTo>
                  <a:pt x="0" y="0"/>
                </a:lnTo>
                <a:lnTo>
                  <a:pt x="0" y="1690751"/>
                </a:lnTo>
                <a:lnTo>
                  <a:pt x="1721358" y="1690751"/>
                </a:lnTo>
                <a:lnTo>
                  <a:pt x="4523105" y="1690751"/>
                </a:lnTo>
                <a:lnTo>
                  <a:pt x="6369431" y="1690751"/>
                </a:lnTo>
                <a:lnTo>
                  <a:pt x="6369431" y="0"/>
                </a:lnTo>
                <a:close/>
              </a:path>
              <a:path w="11328400" h="1691005">
                <a:moveTo>
                  <a:pt x="8708250" y="0"/>
                </a:moveTo>
                <a:lnTo>
                  <a:pt x="6369558" y="0"/>
                </a:lnTo>
                <a:lnTo>
                  <a:pt x="6369558" y="1690751"/>
                </a:lnTo>
                <a:lnTo>
                  <a:pt x="8708250" y="1690751"/>
                </a:lnTo>
                <a:lnTo>
                  <a:pt x="8708250" y="0"/>
                </a:lnTo>
                <a:close/>
              </a:path>
              <a:path w="11328400" h="1691005">
                <a:moveTo>
                  <a:pt x="11328400" y="0"/>
                </a:moveTo>
                <a:lnTo>
                  <a:pt x="8708263" y="0"/>
                </a:lnTo>
                <a:lnTo>
                  <a:pt x="8708263" y="1690751"/>
                </a:lnTo>
                <a:lnTo>
                  <a:pt x="11328400" y="1690751"/>
                </a:lnTo>
                <a:lnTo>
                  <a:pt x="11328400" y="0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57250" y="0"/>
            <a:ext cx="12700" cy="1697355"/>
          </a:xfrm>
          <a:custGeom>
            <a:avLst/>
            <a:gdLst/>
            <a:ahLst/>
            <a:cxnLst/>
            <a:rect l="l" t="t" r="r" b="b"/>
            <a:pathLst>
              <a:path w="12700" h="1697355">
                <a:moveTo>
                  <a:pt x="12700" y="0"/>
                </a:moveTo>
                <a:lnTo>
                  <a:pt x="0" y="0"/>
                </a:lnTo>
                <a:lnTo>
                  <a:pt x="0" y="1697101"/>
                </a:lnTo>
                <a:lnTo>
                  <a:pt x="12700" y="1697101"/>
                </a:lnTo>
                <a:lnTo>
                  <a:pt x="12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578607" y="0"/>
            <a:ext cx="12700" cy="1697355"/>
          </a:xfrm>
          <a:custGeom>
            <a:avLst/>
            <a:gdLst/>
            <a:ahLst/>
            <a:cxnLst/>
            <a:rect l="l" t="t" r="r" b="b"/>
            <a:pathLst>
              <a:path w="12700" h="1697355">
                <a:moveTo>
                  <a:pt x="12700" y="0"/>
                </a:moveTo>
                <a:lnTo>
                  <a:pt x="0" y="0"/>
                </a:lnTo>
                <a:lnTo>
                  <a:pt x="0" y="1697101"/>
                </a:lnTo>
                <a:lnTo>
                  <a:pt x="12700" y="1697101"/>
                </a:lnTo>
                <a:lnTo>
                  <a:pt x="12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80354" y="0"/>
            <a:ext cx="12700" cy="1697355"/>
          </a:xfrm>
          <a:custGeom>
            <a:avLst/>
            <a:gdLst/>
            <a:ahLst/>
            <a:cxnLst/>
            <a:rect l="l" t="t" r="r" b="b"/>
            <a:pathLst>
              <a:path w="12700" h="1697355">
                <a:moveTo>
                  <a:pt x="12700" y="0"/>
                </a:moveTo>
                <a:lnTo>
                  <a:pt x="0" y="0"/>
                </a:lnTo>
                <a:lnTo>
                  <a:pt x="0" y="1697101"/>
                </a:lnTo>
                <a:lnTo>
                  <a:pt x="12700" y="1697101"/>
                </a:lnTo>
                <a:lnTo>
                  <a:pt x="12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226807" y="0"/>
            <a:ext cx="12700" cy="1697355"/>
          </a:xfrm>
          <a:custGeom>
            <a:avLst/>
            <a:gdLst/>
            <a:ahLst/>
            <a:cxnLst/>
            <a:rect l="l" t="t" r="r" b="b"/>
            <a:pathLst>
              <a:path w="12700" h="1697355">
                <a:moveTo>
                  <a:pt x="12700" y="0"/>
                </a:moveTo>
                <a:lnTo>
                  <a:pt x="0" y="0"/>
                </a:lnTo>
                <a:lnTo>
                  <a:pt x="0" y="1697101"/>
                </a:lnTo>
                <a:lnTo>
                  <a:pt x="12700" y="1697101"/>
                </a:lnTo>
                <a:lnTo>
                  <a:pt x="12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565513" y="0"/>
            <a:ext cx="12700" cy="1697355"/>
          </a:xfrm>
          <a:custGeom>
            <a:avLst/>
            <a:gdLst/>
            <a:ahLst/>
            <a:cxnLst/>
            <a:rect l="l" t="t" r="r" b="b"/>
            <a:pathLst>
              <a:path w="12700" h="1697355">
                <a:moveTo>
                  <a:pt x="12700" y="0"/>
                </a:moveTo>
                <a:lnTo>
                  <a:pt x="0" y="0"/>
                </a:lnTo>
                <a:lnTo>
                  <a:pt x="0" y="1697101"/>
                </a:lnTo>
                <a:lnTo>
                  <a:pt x="12700" y="1697101"/>
                </a:lnTo>
                <a:lnTo>
                  <a:pt x="127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0" y="0"/>
            <a:ext cx="12192000" cy="1051560"/>
          </a:xfrm>
          <a:custGeom>
            <a:avLst/>
            <a:gdLst/>
            <a:ahLst/>
            <a:cxnLst/>
            <a:rect l="l" t="t" r="r" b="b"/>
            <a:pathLst>
              <a:path w="12192000" h="1051560">
                <a:moveTo>
                  <a:pt x="12192000" y="0"/>
                </a:moveTo>
                <a:lnTo>
                  <a:pt x="6350" y="0"/>
                </a:lnTo>
                <a:lnTo>
                  <a:pt x="0" y="0"/>
                </a:lnTo>
                <a:lnTo>
                  <a:pt x="0" y="6350"/>
                </a:lnTo>
                <a:lnTo>
                  <a:pt x="0" y="1051560"/>
                </a:lnTo>
                <a:lnTo>
                  <a:pt x="6350" y="1051560"/>
                </a:lnTo>
                <a:lnTo>
                  <a:pt x="6350" y="6350"/>
                </a:lnTo>
                <a:lnTo>
                  <a:pt x="12191987" y="63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1051559"/>
            <a:ext cx="12192000" cy="2379980"/>
          </a:xfrm>
          <a:custGeom>
            <a:avLst/>
            <a:gdLst/>
            <a:ahLst/>
            <a:cxnLst/>
            <a:rect l="l" t="t" r="r" b="b"/>
            <a:pathLst>
              <a:path w="12192000" h="2379979">
                <a:moveTo>
                  <a:pt x="7233031" y="0"/>
                </a:moveTo>
                <a:lnTo>
                  <a:pt x="7233031" y="0"/>
                </a:lnTo>
                <a:lnTo>
                  <a:pt x="0" y="0"/>
                </a:lnTo>
                <a:lnTo>
                  <a:pt x="0" y="2379726"/>
                </a:lnTo>
                <a:lnTo>
                  <a:pt x="7233031" y="2379726"/>
                </a:lnTo>
                <a:lnTo>
                  <a:pt x="7233031" y="0"/>
                </a:lnTo>
                <a:close/>
              </a:path>
              <a:path w="12192000" h="2379979">
                <a:moveTo>
                  <a:pt x="9571850" y="0"/>
                </a:moveTo>
                <a:lnTo>
                  <a:pt x="7233158" y="0"/>
                </a:lnTo>
                <a:lnTo>
                  <a:pt x="7233158" y="2379726"/>
                </a:lnTo>
                <a:lnTo>
                  <a:pt x="9571850" y="2379726"/>
                </a:lnTo>
                <a:lnTo>
                  <a:pt x="9571850" y="0"/>
                </a:lnTo>
                <a:close/>
              </a:path>
              <a:path w="12192000" h="2379979">
                <a:moveTo>
                  <a:pt x="12192000" y="0"/>
                </a:moveTo>
                <a:lnTo>
                  <a:pt x="9571863" y="0"/>
                </a:lnTo>
                <a:lnTo>
                  <a:pt x="9571863" y="2379726"/>
                </a:lnTo>
                <a:lnTo>
                  <a:pt x="12192000" y="2379726"/>
                </a:lnTo>
                <a:lnTo>
                  <a:pt x="12192000" y="0"/>
                </a:lnTo>
                <a:close/>
              </a:path>
            </a:pathLst>
          </a:custGeom>
          <a:solidFill>
            <a:srgbClr val="EAEE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3139" y="494157"/>
            <a:ext cx="10205720" cy="6953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9975" y="1601850"/>
            <a:ext cx="6137275" cy="3090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57552" y="102341"/>
            <a:ext cx="9173845" cy="2079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95"/>
              </a:spcBef>
            </a:pPr>
            <a:r>
              <a:rPr sz="2400" b="1" spc="-20">
                <a:latin typeface="Times New Roman"/>
                <a:cs typeface="Times New Roman"/>
              </a:rPr>
              <a:t>UNIVERSAL</a:t>
            </a:r>
            <a:r>
              <a:rPr sz="2400" b="1" spc="-120">
                <a:latin typeface="Times New Roman"/>
                <a:cs typeface="Times New Roman"/>
              </a:rPr>
              <a:t> </a:t>
            </a:r>
            <a:r>
              <a:rPr lang="en-IN" sz="2400" b="1" spc="-120" dirty="0" smtClean="0">
                <a:latin typeface="Times New Roman"/>
                <a:cs typeface="Times New Roman"/>
              </a:rPr>
              <a:t> </a:t>
            </a:r>
            <a:r>
              <a:rPr sz="2400" b="1" smtClean="0">
                <a:latin typeface="Times New Roman"/>
                <a:cs typeface="Times New Roman"/>
              </a:rPr>
              <a:t>IMAGE</a:t>
            </a:r>
            <a:r>
              <a:rPr sz="2400" b="1" spc="-25" smtClean="0">
                <a:latin typeface="Times New Roman"/>
                <a:cs typeface="Times New Roman"/>
              </a:rPr>
              <a:t> </a:t>
            </a:r>
            <a:r>
              <a:rPr lang="en-IN" sz="2400" b="1" spc="-25" dirty="0" smtClean="0">
                <a:latin typeface="Times New Roman"/>
                <a:cs typeface="Times New Roman"/>
              </a:rPr>
              <a:t> </a:t>
            </a:r>
            <a:r>
              <a:rPr sz="2400" b="1" smtClean="0">
                <a:latin typeface="Times New Roman"/>
                <a:cs typeface="Times New Roman"/>
              </a:rPr>
              <a:t>FORENSICS </a:t>
            </a:r>
            <a:r>
              <a:rPr sz="2400" b="1" dirty="0">
                <a:latin typeface="Times New Roman"/>
                <a:cs typeface="Times New Roman"/>
              </a:rPr>
              <a:t>USING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MATHEMATICAL</a:t>
            </a:r>
            <a:r>
              <a:rPr sz="2400" b="1" spc="-225" dirty="0">
                <a:latin typeface="Times New Roman"/>
                <a:cs typeface="Times New Roman"/>
              </a:rPr>
              <a:t> </a:t>
            </a:r>
            <a:r>
              <a:rPr sz="2400" b="1" spc="-25">
                <a:latin typeface="Times New Roman"/>
                <a:cs typeface="Times New Roman"/>
              </a:rPr>
              <a:t>AND </a:t>
            </a:r>
            <a:r>
              <a:rPr lang="en-IN" sz="2400" b="1" spc="-25" dirty="0" smtClean="0">
                <a:latin typeface="Times New Roman"/>
                <a:cs typeface="Times New Roman"/>
              </a:rPr>
              <a:t> </a:t>
            </a:r>
            <a:r>
              <a:rPr sz="2400" b="1" spc="-60" smtClean="0">
                <a:latin typeface="Times New Roman"/>
                <a:cs typeface="Times New Roman"/>
              </a:rPr>
              <a:t>STATISTICAL</a:t>
            </a:r>
            <a:r>
              <a:rPr lang="en-IN" sz="2400" b="1" spc="-60" dirty="0" smtClean="0">
                <a:latin typeface="Times New Roman"/>
                <a:cs typeface="Times New Roman"/>
              </a:rPr>
              <a:t> </a:t>
            </a:r>
            <a:r>
              <a:rPr sz="2400" b="1" spc="-125" smtClean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ANALYSIS</a:t>
            </a:r>
            <a:endParaRPr sz="2400" dirty="0">
              <a:latin typeface="Times New Roman"/>
              <a:cs typeface="Times New Roman"/>
            </a:endParaRPr>
          </a:p>
          <a:p>
            <a:pPr marR="331470" algn="ctr">
              <a:lnSpc>
                <a:spcPct val="100000"/>
              </a:lnSpc>
              <a:spcBef>
                <a:spcPts val="775"/>
              </a:spcBef>
            </a:pPr>
            <a:r>
              <a:rPr lang="en-IN" sz="2400" dirty="0" smtClean="0">
                <a:latin typeface="Times New Roman"/>
                <a:cs typeface="Times New Roman"/>
              </a:rPr>
              <a:t>FIRST </a:t>
            </a:r>
            <a:r>
              <a:rPr sz="2400" spc="-55" smtClean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REVIEW</a:t>
            </a:r>
            <a:endParaRPr sz="2400" dirty="0">
              <a:latin typeface="Times New Roman"/>
              <a:cs typeface="Times New Roman"/>
            </a:endParaRPr>
          </a:p>
          <a:p>
            <a:pPr marR="488315" algn="ctr">
              <a:lnSpc>
                <a:spcPct val="100000"/>
              </a:lnSpc>
              <a:spcBef>
                <a:spcPts val="1000"/>
              </a:spcBef>
            </a:pPr>
            <a:r>
              <a:rPr sz="2400" dirty="0">
                <a:latin typeface="Times New Roman"/>
                <a:cs typeface="Times New Roman"/>
              </a:rPr>
              <a:t>Presented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endParaRPr sz="2400" dirty="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-619171" y="2434377"/>
          <a:ext cx="13930409" cy="4009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1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7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8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9425">
                <a:tc>
                  <a:txBody>
                    <a:bodyPr/>
                    <a:lstStyle/>
                    <a:p>
                      <a:pPr marL="1793875">
                        <a:lnSpc>
                          <a:spcPts val="2620"/>
                        </a:lnSpc>
                      </a:pPr>
                      <a:r>
                        <a:rPr lang="en-IN" sz="2400" spc="-10" dirty="0" smtClean="0">
                          <a:latin typeface="Times New Roman"/>
                          <a:cs typeface="Times New Roman"/>
                        </a:rPr>
                        <a:t>               </a:t>
                      </a:r>
                      <a:r>
                        <a:rPr sz="2400" spc="-10" smtClean="0">
                          <a:latin typeface="Times New Roman"/>
                          <a:cs typeface="Times New Roman"/>
                        </a:rPr>
                        <a:t>DINESHKUMAR</a:t>
                      </a:r>
                      <a:r>
                        <a:rPr sz="2400" spc="-6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ts val="2620"/>
                        </a:lnSpc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00">
                        <a:lnSpc>
                          <a:spcPts val="2620"/>
                        </a:lnSpc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510822205004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marL="179387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               </a:t>
                      </a:r>
                      <a:r>
                        <a:rPr sz="2400" smtClean="0">
                          <a:latin typeface="Times New Roman"/>
                          <a:cs typeface="Times New Roman"/>
                        </a:rPr>
                        <a:t>KUMARESAN</a:t>
                      </a:r>
                      <a:r>
                        <a:rPr sz="2400" spc="-145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510822205021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665">
                <a:tc>
                  <a:txBody>
                    <a:bodyPr/>
                    <a:lstStyle/>
                    <a:p>
                      <a:pPr marL="179387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               </a:t>
                      </a:r>
                      <a:r>
                        <a:rPr sz="2400" smtClean="0">
                          <a:latin typeface="Times New Roman"/>
                          <a:cs typeface="Times New Roman"/>
                        </a:rPr>
                        <a:t>RUPESH</a:t>
                      </a:r>
                      <a:r>
                        <a:rPr sz="2400" spc="-145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510822205039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92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480">
                <a:tc>
                  <a:txBody>
                    <a:bodyPr/>
                    <a:lstStyle/>
                    <a:p>
                      <a:pPr marL="179387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               </a:t>
                      </a:r>
                      <a:r>
                        <a:rPr sz="2400" smtClean="0">
                          <a:latin typeface="Times New Roman"/>
                          <a:cs typeface="Times New Roman"/>
                        </a:rPr>
                        <a:t>SRIRAM</a:t>
                      </a:r>
                      <a:r>
                        <a:rPr sz="2400" spc="-105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spc="-50" dirty="0">
                          <a:latin typeface="Times New Roman"/>
                          <a:cs typeface="Times New Roman"/>
                        </a:rPr>
                        <a:t>-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tc>
                  <a:txBody>
                    <a:bodyPr/>
                    <a:lstStyle/>
                    <a:p>
                      <a:pPr marL="431165">
                        <a:lnSpc>
                          <a:spcPct val="100000"/>
                        </a:lnSpc>
                        <a:spcBef>
                          <a:spcPts val="855"/>
                        </a:spcBef>
                      </a:pP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510822205046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0858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21155">
                <a:tc>
                  <a:txBody>
                    <a:bodyPr/>
                    <a:lstStyle/>
                    <a:p>
                      <a:pPr marR="2081530" algn="ctr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lang="en-IN" sz="2400" b="1" baseline="0" dirty="0" smtClean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2400" b="1" smtClean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2400" b="1" spc="-9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smtClean="0">
                          <a:latin typeface="Times New Roman"/>
                          <a:cs typeface="Times New Roman"/>
                        </a:rPr>
                        <a:t>GUIDE</a:t>
                      </a:r>
                      <a:endParaRPr sz="2400" smtClean="0">
                        <a:latin typeface="Times New Roman"/>
                        <a:cs typeface="Times New Roman"/>
                      </a:endParaRPr>
                    </a:p>
                    <a:p>
                      <a:pPr marL="107950" marR="2185035" indent="104139" algn="ctr">
                        <a:lnSpc>
                          <a:spcPts val="4320"/>
                        </a:lnSpc>
                        <a:spcBef>
                          <a:spcPts val="185"/>
                        </a:spcBef>
                      </a:pPr>
                      <a:r>
                        <a:rPr lang="en-IN" sz="2400" spc="-1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smtClean="0">
                          <a:latin typeface="Times New Roman"/>
                          <a:cs typeface="Times New Roman"/>
                        </a:rPr>
                        <a:t>Mrs.R.Savitha</a:t>
                      </a:r>
                      <a:r>
                        <a:rPr lang="en-IN" sz="2400" spc="-1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</a:p>
                    <a:p>
                      <a:pPr marL="107950" marR="2185035" indent="104139" algn="ctr">
                        <a:lnSpc>
                          <a:spcPts val="4320"/>
                        </a:lnSpc>
                        <a:spcBef>
                          <a:spcPts val="185"/>
                        </a:spcBef>
                      </a:pPr>
                      <a:r>
                        <a:rPr sz="2400" smtClean="0">
                          <a:latin typeface="Times New Roman"/>
                          <a:cs typeface="Times New Roman"/>
                        </a:rPr>
                        <a:t>Assistant</a:t>
                      </a:r>
                      <a:r>
                        <a:rPr sz="2400" spc="-7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10" dirty="0">
                          <a:latin typeface="Times New Roman"/>
                          <a:cs typeface="Times New Roman"/>
                        </a:rPr>
                        <a:t>Professor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530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115" algn="l">
                        <a:lnSpc>
                          <a:spcPct val="100000"/>
                        </a:lnSpc>
                        <a:spcBef>
                          <a:spcPts val="1205"/>
                        </a:spcBef>
                      </a:pPr>
                      <a:r>
                        <a:rPr sz="2400" b="1" smtClean="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2400" b="1" spc="-85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smtClean="0">
                          <a:latin typeface="Times New Roman"/>
                          <a:cs typeface="Times New Roman"/>
                        </a:rPr>
                        <a:t>COORDINATOR</a:t>
                      </a:r>
                      <a:endParaRPr sz="2400" smtClean="0">
                        <a:latin typeface="Times New Roman"/>
                        <a:cs typeface="Times New Roman"/>
                      </a:endParaRPr>
                    </a:p>
                    <a:p>
                      <a:pPr marL="412115" marR="1946275" algn="l">
                        <a:lnSpc>
                          <a:spcPts val="4320"/>
                        </a:lnSpc>
                        <a:spcBef>
                          <a:spcPts val="185"/>
                        </a:spcBef>
                      </a:pP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lang="en-IN" sz="2400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400" dirty="0" err="1" smtClean="0">
                          <a:latin typeface="Times New Roman"/>
                          <a:cs typeface="Times New Roman"/>
                        </a:rPr>
                        <a:t>Prof.D</a:t>
                      </a: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2400" smtClean="0">
                          <a:latin typeface="Times New Roman"/>
                          <a:cs typeface="Times New Roman"/>
                        </a:rPr>
                        <a:t>Durai</a:t>
                      </a:r>
                      <a:r>
                        <a:rPr lang="en-IN" sz="240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35" smtClean="0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lang="en-IN" sz="2400" spc="-35" dirty="0" smtClean="0">
                          <a:latin typeface="Times New Roman"/>
                          <a:cs typeface="Times New Roman"/>
                        </a:rPr>
                        <a:t>     </a:t>
                      </a:r>
                    </a:p>
                    <a:p>
                      <a:pPr marL="412115" marR="1946275" algn="l">
                        <a:lnSpc>
                          <a:spcPts val="4320"/>
                        </a:lnSpc>
                        <a:spcBef>
                          <a:spcPts val="185"/>
                        </a:spcBef>
                      </a:pPr>
                      <a:r>
                        <a:rPr lang="en-IN" sz="2400" spc="-35" dirty="0" smtClean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lang="en-IN" sz="2400" spc="-35" baseline="0" dirty="0" smtClean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400" spc="-35" dirty="0" smtClean="0">
                          <a:latin typeface="Times New Roman"/>
                          <a:cs typeface="Times New Roman"/>
                        </a:rPr>
                        <a:t> Vice Principal</a:t>
                      </a:r>
                      <a:r>
                        <a:rPr lang="en-IN" sz="2400" spc="-35" baseline="0" dirty="0" smtClean="0">
                          <a:latin typeface="Times New Roman"/>
                          <a:cs typeface="Times New Roman"/>
                        </a:rPr>
                        <a:t> ,</a:t>
                      </a:r>
                      <a:r>
                        <a:rPr sz="2400" smtClean="0">
                          <a:latin typeface="Times New Roman"/>
                          <a:cs typeface="Times New Roman"/>
                        </a:rPr>
                        <a:t>HOD/</a:t>
                      </a:r>
                      <a:r>
                        <a:rPr sz="2400" spc="-25" smtClean="0">
                          <a:latin typeface="Times New Roman"/>
                          <a:cs typeface="Times New Roman"/>
                        </a:rPr>
                        <a:t>IT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1530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5208" rIns="0" bIns="0" rtlCol="0">
            <a:spAutoFit/>
          </a:bodyPr>
          <a:lstStyle/>
          <a:p>
            <a:pPr marL="38176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5340" y="1357298"/>
            <a:ext cx="10144195" cy="41062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2" algn="just">
              <a:lnSpc>
                <a:spcPct val="150000"/>
              </a:lnSpc>
              <a:spcBef>
                <a:spcPts val="1200"/>
              </a:spcBef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PRIMARY OBJECTIVE:</a:t>
            </a:r>
          </a:p>
          <a:p>
            <a:pPr lvl="7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 To detect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AI‑generated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deepfake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images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SECONDARY OBJECTIVE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8"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 To use mathematical and statistical image analysis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 To provide explainable and transparent results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 To ensure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reliable real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fake image classification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4321" y="900810"/>
            <a:ext cx="16821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1588" y="1661286"/>
            <a:ext cx="10993755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This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project proposes an explainable method to detect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AI‑generated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deepfake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images.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It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analyzes image properties such as frequency patterns, noise, texture entropy, and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correlation.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Mathematical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and statistical formulas are used instead of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black‑box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deep learning models.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The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system provides clear forensic reasoning to classify images as real or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AI‑generated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6214" y="2964560"/>
            <a:ext cx="409011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/>
              <a:t>LITERATURE</a:t>
            </a:r>
            <a:r>
              <a:rPr spc="-80"/>
              <a:t> </a:t>
            </a:r>
            <a:r>
              <a:rPr lang="en-IN" spc="-80" dirty="0" smtClean="0"/>
              <a:t> </a:t>
            </a:r>
            <a:r>
              <a:rPr spc="-10" smtClean="0"/>
              <a:t>SURVEY</a:t>
            </a:r>
            <a:endParaRPr spc="-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57C9-656C-DBE2-1DE1-F7292B42D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900C07-4CC1-3D87-2F7B-2DFFF0FEB1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690835"/>
              </p:ext>
            </p:extLst>
          </p:nvPr>
        </p:nvGraphicFramePr>
        <p:xfrm>
          <a:off x="0" y="18326"/>
          <a:ext cx="12192000" cy="67634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3025189290"/>
                    </a:ext>
                  </a:extLst>
                </a:gridCol>
                <a:gridCol w="2519680">
                  <a:extLst>
                    <a:ext uri="{9D8B030D-6E8A-4147-A177-3AD203B41FA5}">
                      <a16:colId xmlns:a16="http://schemas.microsoft.com/office/drawing/2014/main" val="1208442831"/>
                    </a:ext>
                  </a:extLst>
                </a:gridCol>
                <a:gridCol w="2499744">
                  <a:extLst>
                    <a:ext uri="{9D8B030D-6E8A-4147-A177-3AD203B41FA5}">
                      <a16:colId xmlns:a16="http://schemas.microsoft.com/office/drawing/2014/main" val="585931574"/>
                    </a:ext>
                  </a:extLst>
                </a:gridCol>
                <a:gridCol w="1916982">
                  <a:extLst>
                    <a:ext uri="{9D8B030D-6E8A-4147-A177-3AD203B41FA5}">
                      <a16:colId xmlns:a16="http://schemas.microsoft.com/office/drawing/2014/main" val="130105662"/>
                    </a:ext>
                  </a:extLst>
                </a:gridCol>
                <a:gridCol w="2147018">
                  <a:extLst>
                    <a:ext uri="{9D8B030D-6E8A-4147-A177-3AD203B41FA5}">
                      <a16:colId xmlns:a16="http://schemas.microsoft.com/office/drawing/2014/main" val="3962697494"/>
                    </a:ext>
                  </a:extLst>
                </a:gridCol>
                <a:gridCol w="2377056">
                  <a:extLst>
                    <a:ext uri="{9D8B030D-6E8A-4147-A177-3AD203B41FA5}">
                      <a16:colId xmlns:a16="http://schemas.microsoft.com/office/drawing/2014/main" val="982197122"/>
                    </a:ext>
                  </a:extLst>
                </a:gridCol>
              </a:tblGrid>
              <a:tr h="147530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</a:p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dirty="0"/>
                    </a:p>
                    <a:p>
                      <a:r>
                        <a:rPr lang="en-US" sz="1800" b="0" dirty="0"/>
                        <a:t> 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ALGORITHM/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METHODOLOGY/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TECHNIQUES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DISADVANTAGE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4533918"/>
                  </a:ext>
                </a:extLst>
              </a:tr>
              <a:tr h="1505902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1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" marR="516255" algn="ctr">
                        <a:lnSpc>
                          <a:spcPct val="100000"/>
                        </a:lnSpc>
                      </a:pPr>
                      <a:r>
                        <a:rPr lang="en-US" sz="1800" b="0" spc="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10" dirty="0" err="1">
                          <a:latin typeface="Times New Roman"/>
                          <a:cs typeface="Times New Roman"/>
                        </a:rPr>
                        <a:t>TruthLens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: Explainable </a:t>
                      </a:r>
                      <a:r>
                        <a:rPr sz="1800" b="0" spc="-10" dirty="0" err="1">
                          <a:latin typeface="Times New Roman"/>
                          <a:cs typeface="Times New Roman"/>
                        </a:rPr>
                        <a:t>DeepFake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 Detection (2025)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3367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800" b="0" dirty="0">
                        <a:latin typeface="Times New Roman"/>
                        <a:cs typeface="Times New Roman"/>
                      </a:endParaRPr>
                    </a:p>
                    <a:p>
                      <a:pPr marL="102235" marR="727075" algn="ctr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800" b="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multimodal</a:t>
                      </a:r>
                      <a:r>
                        <a:rPr sz="1800" b="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explainable</a:t>
                      </a:r>
                      <a:r>
                        <a:rPr sz="1800" b="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reasoning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endParaRPr sz="1800" b="0" dirty="0">
                        <a:latin typeface="Times New Roman"/>
                        <a:cs typeface="Times New Roman"/>
                      </a:endParaRPr>
                    </a:p>
                    <a:p>
                      <a:pPr marL="66040" marR="304800" algn="ctr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/>
                          <a:cs typeface="Times New Roman"/>
                        </a:rPr>
                        <a:t>Rohit Kundu </a:t>
                      </a:r>
                      <a:r>
                        <a:rPr sz="1800" b="0" spc="-25" dirty="0">
                          <a:latin typeface="Times New Roman"/>
                          <a:cs typeface="Times New Roman"/>
                        </a:rPr>
                        <a:t>et al.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 marR="647700" algn="ctr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Provides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interpretability</a:t>
                      </a:r>
                      <a:r>
                        <a:rPr sz="1800" b="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handles</a:t>
                      </a:r>
                      <a:r>
                        <a:rPr sz="1800" b="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synthetic images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/>
                          <a:cs typeface="Times New Roman"/>
                        </a:rPr>
                        <a:t>Computationally</a:t>
                      </a:r>
                      <a:r>
                        <a:rPr sz="1800" b="0" spc="-25" dirty="0">
                          <a:latin typeface="Times New Roman"/>
                          <a:cs typeface="Times New Roman"/>
                        </a:rPr>
                        <a:t> </a:t>
                      </a:r>
                      <a:endParaRPr lang="en-US" sz="1800" b="0" spc="-25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comple</a:t>
                      </a:r>
                      <a:r>
                        <a:rPr lang="en-US" sz="1800" b="0" spc="-10" dirty="0">
                          <a:latin typeface="Times New Roman"/>
                          <a:cs typeface="Times New Roman"/>
                        </a:rPr>
                        <a:t>x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57127907"/>
                  </a:ext>
                </a:extLst>
              </a:tr>
              <a:tr h="945566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HFMF: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  <a:p>
                      <a:pPr marL="9525" marR="47879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Hierarchical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Fusion</a:t>
                      </a:r>
                      <a:r>
                        <a:rPr sz="1800" b="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50" dirty="0">
                          <a:latin typeface="Times New Roman"/>
                          <a:cs typeface="Times New Roman"/>
                        </a:rPr>
                        <a:t>… 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(2025)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stream</a:t>
                      </a:r>
                      <a:r>
                        <a:rPr sz="1800" b="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800" b="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network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/>
                          <a:cs typeface="Times New Roman"/>
                        </a:rPr>
                        <a:t>Mehta</a:t>
                      </a:r>
                      <a:r>
                        <a:rPr sz="1800" b="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dirty="0">
                          <a:latin typeface="Times New Roman"/>
                          <a:cs typeface="Times New Roman"/>
                        </a:rPr>
                        <a:t>et</a:t>
                      </a:r>
                      <a:r>
                        <a:rPr sz="1800" b="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25" dirty="0">
                          <a:latin typeface="Times New Roman"/>
                          <a:cs typeface="Times New Roman"/>
                        </a:rPr>
                        <a:t>al.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</a:pPr>
                      <a:r>
                        <a:rPr sz="1800" b="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800" b="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  <a:p>
                      <a:pPr marL="123189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805" marR="3175">
                        <a:lnSpc>
                          <a:spcPct val="100000"/>
                        </a:lnSpc>
                      </a:pPr>
                      <a:r>
                        <a:rPr sz="1800" b="0" spc="-10" dirty="0">
                          <a:latin typeface="Times New Roman"/>
                          <a:cs typeface="Times New Roman"/>
                        </a:rPr>
                        <a:t>Black-</a:t>
                      </a:r>
                      <a:r>
                        <a:rPr sz="1800" b="0" spc="-25" dirty="0">
                          <a:latin typeface="Times New Roman"/>
                          <a:cs typeface="Times New Roman"/>
                        </a:rPr>
                        <a:t>box</a:t>
                      </a:r>
                      <a:endParaRPr sz="1800" b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28361710"/>
                  </a:ext>
                </a:extLst>
              </a:tr>
              <a:tr h="945566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Universal AI‑Generated Image Detection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Frequency Spectrum &amp; Noise Analysis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Kumar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Model‑agnostic, dataset‑independent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Lower accuracy on hybrids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598792"/>
                  </a:ext>
                </a:extLst>
              </a:tr>
              <a:tr h="945566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r>
                        <a:rPr lang="en-US" dirty="0"/>
                        <a:t>    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Multi‑Domain Deepfake Detection Framework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CNN + FFT </a:t>
                      </a:r>
                      <a:r>
                        <a:rPr lang="en-IN" dirty="0" smtClean="0">
                          <a:effectLst/>
                        </a:rPr>
                        <a:t>+ DCT </a:t>
                      </a:r>
                      <a:r>
                        <a:rPr lang="en-IN" dirty="0">
                          <a:effectLst/>
                        </a:rPr>
                        <a:t>Fusion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Lee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Robust across domains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Complex architecture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465864"/>
                  </a:ext>
                </a:extLst>
              </a:tr>
              <a:tr h="945566">
                <a:tc>
                  <a:txBody>
                    <a:bodyPr/>
                    <a:lstStyle/>
                    <a:p>
                      <a:r>
                        <a:rPr lang="en-US" dirty="0"/>
                        <a:t>     5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Statistical Forensics for AI Image Detection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Noise Residuals, Entropy Metrics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Rossi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Explainable, lightweight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Sensitive to compression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68127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14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AD38-5E36-3B9F-8B0F-E73A65CE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7349BE-B4AB-F1ED-3953-5B00DEE81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353755"/>
              </p:ext>
            </p:extLst>
          </p:nvPr>
        </p:nvGraphicFramePr>
        <p:xfrm>
          <a:off x="0" y="0"/>
          <a:ext cx="12192000" cy="6903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883724088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6892351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19328944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200347477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25483616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869186106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SNO</a:t>
                      </a:r>
                    </a:p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altLang="en-US" sz="1800" dirty="0"/>
                    </a:p>
                    <a:p>
                      <a:r>
                        <a:rPr lang="en-US" sz="1800" b="0" dirty="0"/>
                        <a:t>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&amp; 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ALGORITHM/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METHODOLOGY/ 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TECHNIQUES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+mn-ea"/>
                        </a:rPr>
                        <a:t>DISADVANTAGE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49126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fr-FR" dirty="0">
                          <a:effectLst/>
                        </a:rPr>
                        <a:t>Diffusion Model </a:t>
                      </a:r>
                      <a:r>
                        <a:rPr lang="fr-FR" dirty="0" err="1">
                          <a:effectLst/>
                        </a:rPr>
                        <a:t>Deepfake</a:t>
                      </a:r>
                      <a:r>
                        <a:rPr lang="fr-FR" dirty="0">
                          <a:effectLst/>
                        </a:rPr>
                        <a:t> </a:t>
                      </a:r>
                      <a:r>
                        <a:rPr lang="fr-FR" dirty="0" err="1">
                          <a:effectLst/>
                        </a:rPr>
                        <a:t>Detection</a:t>
                      </a:r>
                      <a:r>
                        <a:rPr lang="fr-FR" dirty="0">
                          <a:effectLst/>
                        </a:rPr>
                        <a:t>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Reverse Diffusion Pattern Analysis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Wang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Detects modern generators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Computationally heavy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8380285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Compression Artifact‑Based Deepfake Detection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JPEG Artifact Consistency Check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Singh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Fast, no training needed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Format‑dependent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76475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Hybrid Explainable Deepfake Detection System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Rule‑Based + ML Ensemble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Ahmed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Balanced accuracy &amp; explainability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Maintenance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072827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Color Correlation Analysis for AI Images (2025)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RGB Channel Dependency Modeling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Fernández et al.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Simple, interpretable</a:t>
                      </a:r>
                    </a:p>
                  </a:txBody>
                  <a:tcPr marR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Limited standalone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9619935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dirty="0">
                          <a:effectLst/>
                        </a:rPr>
                        <a:t>Mathematical Forensic Framework for Image Authenticity (2025)</a:t>
                      </a:r>
                    </a:p>
                  </a:txBody>
                  <a:tcPr marR="152400" marB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FFT, Entropy, Statistical Thresholding</a:t>
                      </a:r>
                    </a:p>
                  </a:txBody>
                  <a:tcPr marR="152400" marB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Patel et al.</a:t>
                      </a:r>
                    </a:p>
                  </a:txBody>
                  <a:tcPr marR="152400" marB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>
                          <a:effectLst/>
                        </a:rPr>
                        <a:t>Fully explainable, forensic‑ready</a:t>
                      </a:r>
                    </a:p>
                  </a:txBody>
                  <a:tcPr marR="152400" marB="152400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dirty="0">
                          <a:effectLst/>
                        </a:rPr>
                        <a:t>Threshold tuning required</a:t>
                      </a:r>
                    </a:p>
                  </a:txBody>
                  <a:tcPr marB="152400" anchor="ctr"/>
                </a:tc>
                <a:extLst>
                  <a:ext uri="{0D108BD9-81ED-4DB2-BD59-A6C34878D82A}">
                    <a16:rowId xmlns:a16="http://schemas.microsoft.com/office/drawing/2014/main" val="4290040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329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0960" y="1357298"/>
            <a:ext cx="11501517" cy="3765774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240029" indent="-227329" algn="just">
              <a:lnSpc>
                <a:spcPct val="150000"/>
              </a:lnSpc>
              <a:spcBef>
                <a:spcPts val="154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3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400" spc="-3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400" smtClean="0">
                <a:latin typeface="Times New Roman" pitchFamily="18" charset="0"/>
                <a:cs typeface="Times New Roman" pitchFamily="18" charset="0"/>
              </a:rPr>
              <a:t>xisting</a:t>
            </a:r>
            <a:r>
              <a:rPr sz="2400" spc="-5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systems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use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CNNs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transformer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models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trained</a:t>
            </a:r>
            <a:r>
              <a:rPr sz="2400" spc="-6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>
                <a:latin typeface="Times New Roman" pitchFamily="18" charset="0"/>
                <a:cs typeface="Times New Roman" pitchFamily="18" charset="0"/>
              </a:rPr>
              <a:t>large</a:t>
            </a:r>
            <a:r>
              <a:rPr sz="2400" spc="-45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smtClean="0">
                <a:latin typeface="Times New Roman" pitchFamily="18" charset="0"/>
                <a:cs typeface="Times New Roman" pitchFamily="18" charset="0"/>
              </a:rPr>
              <a:t>datasets</a:t>
            </a:r>
            <a:r>
              <a:rPr lang="en-IN" sz="2400" spc="-10" dirty="0" smtClean="0">
                <a:latin typeface="Times New Roman" pitchFamily="18" charset="0"/>
                <a:cs typeface="Times New Roman" pitchFamily="18" charset="0"/>
              </a:rPr>
              <a:t> t</a:t>
            </a:r>
            <a:r>
              <a:rPr sz="240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sz="2400" spc="-15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classify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images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as real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1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AI-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generated.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029" marR="454025" indent="-227329" algn="just">
              <a:lnSpc>
                <a:spcPct val="1500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These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models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provide a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final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prediction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(real/fake)</a:t>
            </a:r>
            <a:r>
              <a:rPr sz="24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but</a:t>
            </a:r>
            <a:r>
              <a:rPr sz="24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do</a:t>
            </a:r>
            <a:r>
              <a:rPr sz="2400" spc="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not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explain</a:t>
            </a:r>
            <a:r>
              <a:rPr sz="2400" spc="-1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why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an 	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image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classified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z="24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way,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reducing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transparency</a:t>
            </a:r>
            <a:r>
              <a:rPr sz="24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trust.</a:t>
            </a:r>
            <a:endParaRPr sz="2400">
              <a:latin typeface="Times New Roman" pitchFamily="18" charset="0"/>
              <a:cs typeface="Times New Roman" pitchFamily="18" charset="0"/>
            </a:endParaRPr>
          </a:p>
          <a:p>
            <a:pPr marL="240029" marR="147320" indent="-227329" algn="just">
              <a:lnSpc>
                <a:spcPct val="150000"/>
              </a:lnSpc>
              <a:spcBef>
                <a:spcPts val="9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Detection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accuracy</a:t>
            </a:r>
            <a:r>
              <a:rPr sz="24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depends</a:t>
            </a:r>
            <a:r>
              <a:rPr sz="24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heavily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on</a:t>
            </a:r>
            <a:r>
              <a:rPr sz="24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00"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training</a:t>
            </a:r>
            <a:r>
              <a:rPr sz="24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specific</a:t>
            </a:r>
            <a:r>
              <a:rPr sz="2400" spc="-1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AI</a:t>
            </a:r>
            <a:r>
              <a:rPr sz="2400"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models 	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seen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during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training,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making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them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less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reliable</a:t>
            </a:r>
            <a:r>
              <a:rPr sz="2400" spc="-4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4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new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or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dirty="0">
                <a:latin typeface="Times New Roman" pitchFamily="18" charset="0"/>
                <a:cs typeface="Times New Roman" pitchFamily="18" charset="0"/>
              </a:rPr>
              <a:t>unseen</a:t>
            </a:r>
            <a:r>
              <a:rPr sz="24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400" spc="-10" dirty="0">
                <a:latin typeface="Times New Roman" pitchFamily="18" charset="0"/>
                <a:cs typeface="Times New Roman" pitchFamily="18" charset="0"/>
              </a:rPr>
              <a:t>generative 	techniques.</a:t>
            </a:r>
            <a:endParaRPr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08" y="500042"/>
            <a:ext cx="7388877" cy="686547"/>
          </a:xfrm>
          <a:prstGeom prst="rect">
            <a:avLst/>
          </a:prstGeom>
        </p:spPr>
        <p:txBody>
          <a:bodyPr vert="horz" wrap="square" lIns="0" tIns="314147" rIns="0" bIns="0" rtlCol="0">
            <a:spAutoFit/>
          </a:bodyPr>
          <a:lstStyle/>
          <a:p>
            <a:pPr marL="3692525" algn="ctr">
              <a:lnSpc>
                <a:spcPct val="100000"/>
              </a:lnSpc>
              <a:spcBef>
                <a:spcPts val="100"/>
              </a:spcBef>
            </a:pPr>
            <a:r>
              <a:rPr smtClean="0"/>
              <a:t>EXISTING</a:t>
            </a:r>
            <a:r>
              <a:rPr spc="-85" smtClean="0"/>
              <a:t> </a:t>
            </a:r>
            <a:r>
              <a:rPr lang="en-IN" spc="-85" dirty="0" smtClean="0"/>
              <a:t> </a:t>
            </a:r>
            <a:r>
              <a:rPr spc="-10" smtClean="0"/>
              <a:t>SYSTEM</a:t>
            </a:r>
            <a:endParaRPr spc="-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95736" y="642918"/>
            <a:ext cx="435771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/>
              <a:t>PROBLEM</a:t>
            </a:r>
            <a:r>
              <a:rPr spc="-55"/>
              <a:t> </a:t>
            </a:r>
            <a:r>
              <a:rPr lang="en-IN" spc="-55" dirty="0" smtClean="0"/>
              <a:t> </a:t>
            </a:r>
            <a:r>
              <a:rPr spc="-40" smtClean="0"/>
              <a:t>STATEMENT</a:t>
            </a:r>
            <a:endParaRPr spc="-40" dirty="0"/>
          </a:p>
        </p:txBody>
      </p:sp>
      <p:sp>
        <p:nvSpPr>
          <p:cNvPr id="3" name="object 3"/>
          <p:cNvSpPr txBox="1"/>
          <p:nvPr/>
        </p:nvSpPr>
        <p:spPr>
          <a:xfrm>
            <a:off x="523836" y="1500174"/>
            <a:ext cx="11358642" cy="32698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l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Identifying real and AI generated images is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difficult: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6" algn="l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Modern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generative models produce highly realistic visuals that closely mimic natural textures lighting noise and compression patterns across diverse real contexts</a:t>
            </a:r>
            <a:r>
              <a:rPr lang="en-GB" sz="2400" dirty="0" smtClean="0"/>
              <a:t>.</a:t>
            </a:r>
          </a:p>
          <a:p>
            <a:pPr lvl="6" algn="l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Existing detection systems rely on black box deep 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learning:</a:t>
            </a:r>
          </a:p>
          <a:p>
            <a:pPr lvl="6" algn="l"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	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pproaches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 offering limited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require large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labeled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datasets and often fail to generalize effectively when encountering new unseen AI generation techniques.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42852"/>
            <a:ext cx="10205720" cy="689290"/>
          </a:xfrm>
          <a:prstGeom prst="rect">
            <a:avLst/>
          </a:prstGeom>
        </p:spPr>
        <p:txBody>
          <a:bodyPr vert="horz" wrap="square" lIns="0" tIns="316864" rIns="0" bIns="0" rtlCol="0">
            <a:spAutoFit/>
          </a:bodyPr>
          <a:lstStyle/>
          <a:p>
            <a:pPr marL="3596640">
              <a:lnSpc>
                <a:spcPct val="100000"/>
              </a:lnSpc>
              <a:spcBef>
                <a:spcPts val="100"/>
              </a:spcBef>
            </a:pPr>
            <a:r>
              <a:rPr smtClean="0"/>
              <a:t>PROPOSED</a:t>
            </a:r>
            <a:r>
              <a:rPr lang="en-IN" dirty="0" smtClean="0"/>
              <a:t> </a:t>
            </a:r>
            <a:r>
              <a:rPr spc="-105" smtClean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6712" y="1071546"/>
            <a:ext cx="10787138" cy="55528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proposed system introduces a unified and explainable image forensic framework for detecting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AI‑generated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deepfake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images</a:t>
            </a:r>
          </a:p>
          <a:p>
            <a:pPr algn="l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It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integrates 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frequency‑domain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 spatial, statistical, and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compression‑based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image features to capture intrinsic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artifacts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that distinguish real images from synthetic ones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Instead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of relying on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black‑box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deep learning, the system employs mathematical and statistical feature extraction to ensure transparent and interpretable detection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 lightweight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machine‑learning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classifier learns non‑linear relationships among extracted forensic features while preserving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l"/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system provides 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image‑specific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explanations, identifying which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artifacts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(FFT patterns, noise statistics, texture entropy,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correlation, compression effects) influence the classification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142852"/>
            <a:ext cx="10205720" cy="689290"/>
          </a:xfrm>
          <a:prstGeom prst="rect">
            <a:avLst/>
          </a:prstGeom>
        </p:spPr>
        <p:txBody>
          <a:bodyPr vert="horz" wrap="square" lIns="0" tIns="316864" rIns="0" bIns="0" rtlCol="0">
            <a:spAutoFit/>
          </a:bodyPr>
          <a:lstStyle/>
          <a:p>
            <a:pPr marL="3596640">
              <a:lnSpc>
                <a:spcPct val="100000"/>
              </a:lnSpc>
              <a:spcBef>
                <a:spcPts val="100"/>
              </a:spcBef>
            </a:pPr>
            <a:r>
              <a:rPr smtClean="0"/>
              <a:t>PROPOSED</a:t>
            </a:r>
            <a:r>
              <a:rPr lang="en-IN" dirty="0" smtClean="0"/>
              <a:t> </a:t>
            </a:r>
            <a:r>
              <a:rPr spc="-105" smtClean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5274" y="1212327"/>
            <a:ext cx="1078713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By explaining why an image is real or fake rather than outputting confidence scores, the system enhances trust, robustness, and accountability.</a:t>
            </a:r>
          </a:p>
          <a:p>
            <a:pPr algn="l"/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l">
              <a:buFont typeface="Wingdings" pitchFamily="2" charset="2"/>
              <a:buChar char="Ø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proposed solution helps combat misinformation, digital fraud, and identity misuse, strengthening confidence in digital visual media.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24364" y="751824"/>
            <a:ext cx="2711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mtClean="0"/>
              <a:t>System</a:t>
            </a:r>
            <a:r>
              <a:rPr spc="-70" smtClean="0"/>
              <a:t> </a:t>
            </a:r>
            <a:r>
              <a:rPr spc="-10" smtClean="0"/>
              <a:t>Specification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759663" y="1465569"/>
            <a:ext cx="335851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/>
                <a:cs typeface="Times New Roman"/>
              </a:rPr>
              <a:t>Hardware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Requirements: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9663" y="1928802"/>
            <a:ext cx="2169795" cy="222059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659765" indent="-6470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659765" algn="l"/>
              </a:tabLst>
            </a:pPr>
            <a:r>
              <a:rPr sz="2400" spc="-10" dirty="0">
                <a:latin typeface="Times New Roman"/>
                <a:cs typeface="Times New Roman"/>
              </a:rPr>
              <a:t>Processor</a:t>
            </a:r>
            <a:endParaRPr sz="24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583565" algn="l"/>
              </a:tabLst>
            </a:pPr>
            <a:r>
              <a:rPr sz="2400" spc="-25" dirty="0">
                <a:latin typeface="Times New Roman"/>
                <a:cs typeface="Times New Roman"/>
              </a:rPr>
              <a:t>RAM</a:t>
            </a:r>
            <a:endParaRPr sz="24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583565" algn="l"/>
              </a:tabLst>
            </a:pPr>
            <a:r>
              <a:rPr sz="2400" spc="-10" dirty="0">
                <a:latin typeface="Times New Roman"/>
                <a:cs typeface="Times New Roman"/>
              </a:rPr>
              <a:t>Storage</a:t>
            </a:r>
            <a:endParaRPr sz="2400">
              <a:latin typeface="Times New Roman"/>
              <a:cs typeface="Times New Roman"/>
            </a:endParaRPr>
          </a:p>
          <a:p>
            <a:pPr marL="583565" indent="-5708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583565" algn="l"/>
              </a:tabLst>
            </a:pPr>
            <a:r>
              <a:rPr sz="2400" dirty="0">
                <a:latin typeface="Times New Roman"/>
                <a:cs typeface="Times New Roman"/>
              </a:rPr>
              <a:t>System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94753" y="1917130"/>
            <a:ext cx="5073015" cy="222625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i5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 equivalent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(min i3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>
                <a:latin typeface="Times New Roman"/>
                <a:cs typeface="Times New Roman"/>
              </a:rPr>
              <a:t>supported</a:t>
            </a:r>
            <a:r>
              <a:rPr sz="2400" spc="-10" smtClean="0">
                <a:latin typeface="Times New Roman"/>
                <a:cs typeface="Times New Roman"/>
              </a:rPr>
              <a:t>)</a:t>
            </a:r>
            <a:endParaRPr lang="en-IN" sz="24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mtClean="0">
                <a:latin typeface="Times New Roman"/>
                <a:cs typeface="Times New Roman"/>
              </a:rPr>
              <a:t>:</a:t>
            </a:r>
            <a:r>
              <a:rPr sz="2400" spc="-25" smtClean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8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GB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(minimum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GB)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256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GB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SSD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higher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spc="-10" dirty="0">
                <a:latin typeface="Times New Roman"/>
                <a:cs typeface="Times New Roman"/>
              </a:rPr>
              <a:t>64-</a:t>
            </a:r>
            <a:r>
              <a:rPr sz="2400" dirty="0">
                <a:latin typeface="Times New Roman"/>
                <a:cs typeface="Times New Roman"/>
              </a:rPr>
              <a:t>bit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architecture.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705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Software</a:t>
            </a:r>
            <a:r>
              <a:rPr spc="-12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601850"/>
            <a:ext cx="3359150" cy="13925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Operating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  <a:p>
            <a:pPr marL="393700" indent="-3810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93700" algn="l"/>
              </a:tabLst>
            </a:pP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Language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Frameworks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Libraries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/>
              <a:t>:</a:t>
            </a:r>
            <a:r>
              <a:rPr spc="-90" dirty="0"/>
              <a:t> </a:t>
            </a:r>
            <a:r>
              <a:rPr spc="-10" dirty="0"/>
              <a:t>Windows</a:t>
            </a:r>
            <a:r>
              <a:rPr spc="-40" dirty="0"/>
              <a:t> </a:t>
            </a:r>
            <a:r>
              <a:rPr dirty="0"/>
              <a:t>/</a:t>
            </a:r>
            <a:r>
              <a:rPr spc="-55" dirty="0"/>
              <a:t> </a:t>
            </a:r>
            <a:r>
              <a:rPr spc="-10" dirty="0"/>
              <a:t>Linux</a:t>
            </a: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/>
              <a:t>:</a:t>
            </a:r>
            <a:r>
              <a:rPr spc="-10" dirty="0"/>
              <a:t> </a:t>
            </a:r>
            <a:r>
              <a:rPr dirty="0"/>
              <a:t>Python 3.7 </a:t>
            </a:r>
            <a:r>
              <a:rPr spc="-10" dirty="0"/>
              <a:t>Higher</a:t>
            </a:r>
          </a:p>
          <a:p>
            <a:pPr marL="12700">
              <a:lnSpc>
                <a:spcPts val="2735"/>
              </a:lnSpc>
              <a:spcBef>
                <a:spcPts val="710"/>
              </a:spcBef>
            </a:pPr>
            <a:r>
              <a:rPr dirty="0"/>
              <a:t>:</a:t>
            </a:r>
            <a:r>
              <a:rPr spc="-95" dirty="0"/>
              <a:t> </a:t>
            </a:r>
            <a:r>
              <a:rPr spc="-20" dirty="0"/>
              <a:t>TensorFlow</a:t>
            </a:r>
            <a:r>
              <a:rPr spc="-65" dirty="0"/>
              <a:t> </a:t>
            </a:r>
            <a:r>
              <a:rPr dirty="0"/>
              <a:t>/</a:t>
            </a:r>
            <a:r>
              <a:rPr spc="-45" dirty="0"/>
              <a:t> </a:t>
            </a:r>
            <a:r>
              <a:rPr spc="-10" dirty="0"/>
              <a:t>PyTorch,</a:t>
            </a:r>
            <a:r>
              <a:rPr spc="-65" dirty="0"/>
              <a:t> </a:t>
            </a:r>
            <a:r>
              <a:rPr dirty="0"/>
              <a:t>Keras,</a:t>
            </a:r>
            <a:r>
              <a:rPr spc="-55" dirty="0"/>
              <a:t> </a:t>
            </a:r>
            <a:r>
              <a:rPr spc="-10" dirty="0"/>
              <a:t>Scikitlearn,</a:t>
            </a:r>
          </a:p>
          <a:p>
            <a:pPr marL="1765300">
              <a:lnSpc>
                <a:spcPts val="2735"/>
              </a:lnSpc>
            </a:pPr>
            <a:r>
              <a:rPr spc="-20" dirty="0"/>
              <a:t>Numpy,</a:t>
            </a:r>
            <a:r>
              <a:rPr spc="-85" dirty="0"/>
              <a:t> </a:t>
            </a:r>
            <a:r>
              <a:rPr spc="-10" dirty="0"/>
              <a:t>Matplotlib/Seaborn,Pandas</a:t>
            </a:r>
          </a:p>
          <a:p>
            <a:pPr marL="41910">
              <a:lnSpc>
                <a:spcPct val="100000"/>
              </a:lnSpc>
              <a:spcBef>
                <a:spcPts val="720"/>
              </a:spcBef>
            </a:pPr>
            <a:r>
              <a:rPr dirty="0"/>
              <a:t>:</a:t>
            </a:r>
            <a:r>
              <a:rPr spc="-15" dirty="0"/>
              <a:t> </a:t>
            </a:r>
            <a:r>
              <a:rPr dirty="0"/>
              <a:t>Jupyter</a:t>
            </a:r>
            <a:r>
              <a:rPr spc="-10" dirty="0"/>
              <a:t> </a:t>
            </a:r>
            <a:r>
              <a:rPr dirty="0"/>
              <a:t>Notebook</a:t>
            </a:r>
            <a:r>
              <a:rPr spc="-10" dirty="0"/>
              <a:t> </a:t>
            </a:r>
            <a:r>
              <a:rPr dirty="0"/>
              <a:t>/</a:t>
            </a:r>
            <a:r>
              <a:rPr spc="-50" dirty="0"/>
              <a:t> </a:t>
            </a:r>
            <a:r>
              <a:rPr dirty="0"/>
              <a:t>VS Code /</a:t>
            </a:r>
            <a:r>
              <a:rPr spc="-140" dirty="0"/>
              <a:t> </a:t>
            </a:r>
            <a:r>
              <a:rPr spc="-10" dirty="0"/>
              <a:t>Anaconda</a:t>
            </a:r>
          </a:p>
          <a:p>
            <a:pPr marL="59690">
              <a:lnSpc>
                <a:spcPct val="100000"/>
              </a:lnSpc>
              <a:spcBef>
                <a:spcPts val="705"/>
              </a:spcBef>
            </a:pPr>
            <a:r>
              <a:rPr dirty="0"/>
              <a:t>:</a:t>
            </a:r>
            <a:r>
              <a:rPr spc="-30" dirty="0"/>
              <a:t> </a:t>
            </a:r>
            <a:r>
              <a:rPr spc="-10" dirty="0"/>
              <a:t>SHAP</a:t>
            </a:r>
            <a:r>
              <a:rPr spc="-85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spc="-20" dirty="0"/>
              <a:t>LIME</a:t>
            </a:r>
          </a:p>
          <a:p>
            <a:pPr marL="88900">
              <a:lnSpc>
                <a:spcPct val="100000"/>
              </a:lnSpc>
              <a:spcBef>
                <a:spcPts val="710"/>
              </a:spcBef>
            </a:pPr>
            <a:r>
              <a:rPr dirty="0"/>
              <a:t>:CSV</a:t>
            </a:r>
            <a:r>
              <a:rPr spc="-80" dirty="0"/>
              <a:t> </a:t>
            </a:r>
            <a:r>
              <a:rPr dirty="0"/>
              <a:t>/</a:t>
            </a:r>
            <a:r>
              <a:rPr spc="-65" dirty="0"/>
              <a:t> </a:t>
            </a:r>
            <a:r>
              <a:rPr dirty="0"/>
              <a:t>TXT</a:t>
            </a:r>
            <a:r>
              <a:rPr spc="-65" dirty="0"/>
              <a:t> </a:t>
            </a:r>
            <a:r>
              <a:rPr dirty="0"/>
              <a:t>/</a:t>
            </a:r>
            <a:r>
              <a:rPr spc="-30" dirty="0"/>
              <a:t> </a:t>
            </a:r>
            <a:r>
              <a:rPr dirty="0"/>
              <a:t>JSON</a:t>
            </a:r>
            <a:r>
              <a:rPr spc="-15" dirty="0"/>
              <a:t> </a:t>
            </a:r>
            <a:r>
              <a:rPr spc="-20" dirty="0"/>
              <a:t>flies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3139" y="3299841"/>
            <a:ext cx="3731260" cy="13925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17500" indent="-30480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Development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Environment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Explainable</a:t>
            </a:r>
            <a:r>
              <a:rPr sz="2400" spc="-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(XAI)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Tools</a:t>
            </a:r>
            <a:endParaRPr sz="2400">
              <a:latin typeface="Times New Roman"/>
              <a:cs typeface="Times New Roman"/>
            </a:endParaRPr>
          </a:p>
          <a:p>
            <a:pPr marL="317500" indent="-3048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317500" algn="l"/>
              </a:tabLst>
            </a:pPr>
            <a:r>
              <a:rPr sz="2400" dirty="0">
                <a:latin typeface="Times New Roman"/>
                <a:cs typeface="Times New Roman"/>
              </a:rPr>
              <a:t>Dataset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Handling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762180" y="357166"/>
            <a:ext cx="1300171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3575" algn="ctr">
              <a:lnSpc>
                <a:spcPct val="100000"/>
              </a:lnSpc>
              <a:spcBef>
                <a:spcPts val="100"/>
              </a:spcBef>
            </a:pPr>
            <a:r>
              <a:rPr lang="en-IN" spc="-10" dirty="0" smtClean="0"/>
              <a:t> BLOCK  DAIGRAM  OF  DEEPFAKE DETECTION</a:t>
            </a:r>
            <a:endParaRPr spc="-10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7" r="557"/>
          <a:stretch>
            <a:fillRect/>
          </a:stretch>
        </p:blipFill>
        <p:spPr bwMode="auto">
          <a:xfrm>
            <a:off x="4288465" y="1178575"/>
            <a:ext cx="3615070" cy="54651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81026" y="1747405"/>
            <a:ext cx="10930014" cy="44448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Module 1: Front-End User Interface Module</a:t>
            </a:r>
            <a:endParaRPr lang="en-GB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 This module develops the front-end interface for user interaction, including image upload and preview options. It is built using HTML, CSS, and JavaScript for a simple user experience.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It provides a result display layout and connects the user with backend modules. Drag-and-drop and device compatibility are supported.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This module handles only user interaction and display functions, not image processing.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3139" y="494157"/>
            <a:ext cx="10205720" cy="738664"/>
          </a:xfrm>
        </p:spPr>
        <p:txBody>
          <a:bodyPr/>
          <a:lstStyle/>
          <a:p>
            <a:r>
              <a:rPr lang="en-IN" dirty="0" smtClean="0"/>
              <a:t>			PROJECT  DESCRIPTION </a:t>
            </a:r>
            <a:br>
              <a:rPr lang="en-IN" dirty="0" smtClean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38150" y="1357298"/>
            <a:ext cx="665598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en-IN" sz="2400" baseline="0" dirty="0" smtClean="0">
                <a:latin typeface="Times New Roman" pitchFamily="18" charset="0"/>
                <a:cs typeface="Times New Roman" pitchFamily="18" charset="0"/>
              </a:rPr>
              <a:t> project contains </a:t>
            </a: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5 </a:t>
            </a:r>
            <a:r>
              <a:rPr lang="en-IN" sz="2400" baseline="0" dirty="0" smtClean="0">
                <a:latin typeface="Times New Roman" pitchFamily="18" charset="0"/>
                <a:cs typeface="Times New Roman" pitchFamily="18" charset="0"/>
              </a:rPr>
              <a:t>modules and the modules are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5274" y="714356"/>
            <a:ext cx="10715700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Module 2: Image </a:t>
            </a:r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Preprocessing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 Module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This module prepares the uploaded image for analysis by improving its quality. It includes resizing, noise removal, contrast enhancement, and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grayscale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conversion.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These steps standardize the image format and reduce unwanted distortions. This ensures the data is clean and consistent for further processing.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module focuses only on image improvement, not on feature detection or decision-making.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3836" y="714356"/>
            <a:ext cx="1143008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Module 3: Feature Extraction Module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This module extracts important characteristics from the image for analysis. It detects edges, textures, and pixel intensity patterns.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It also calculates histogram values and statistical measures such as mean and variance. These features convert the image into numerical data.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The module’s role is only to collect meaningful image information, not to classify the image.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3836" y="714356"/>
            <a:ext cx="110014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Module 4: Mathematical &amp; Statistical Analysis Module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This module analyzes the extracted features using mathematical and statistical techniques. It applies histogram analysis, Fourier Transform, and deviation measurements.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Pixel distribution is compared with expected values, and thresholds are applied to detect irregularities. This helps identify possible manipulation.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This module performs the core decision-making without using machine learning.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48064" y="-571528"/>
            <a:ext cx="10205720" cy="1846659"/>
          </a:xfrm>
        </p:spPr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Module 5: Result &amp; Report Module</a:t>
            </a:r>
            <a:br>
              <a:rPr lang="en-GB" dirty="0" smtClean="0"/>
            </a:b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88998" y="500042"/>
            <a:ext cx="10493414" cy="3877985"/>
          </a:xfrm>
        </p:spPr>
        <p:txBody>
          <a:bodyPr/>
          <a:lstStyle/>
          <a:p>
            <a:pPr>
              <a:lnSpc>
                <a:spcPct val="150000"/>
              </a:lnSpc>
            </a:pPr>
            <a:endParaRPr lang="en-GB" dirty="0" smtClean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 smtClean="0"/>
              <a:t> This module presents the final output to the user in a clear format. It displays the image status along with statistical values and graphs.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 smtClean="0"/>
              <a:t> The system may highlight abnormal regions and provide a confidence level. It also allows the result report to be saved or downloaded.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 smtClean="0"/>
              <a:t>This module focuses on output presentation and documentation of results.</a:t>
            </a:r>
          </a:p>
          <a:p>
            <a:pPr>
              <a:lnSpc>
                <a:spcPct val="150000"/>
              </a:lnSpc>
            </a:pPr>
            <a:r>
              <a:rPr lang="en-IN" dirty="0" smtClean="0"/>
              <a:t>`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3139" y="494157"/>
            <a:ext cx="9532017" cy="369332"/>
          </a:xfrm>
        </p:spPr>
        <p:txBody>
          <a:bodyPr/>
          <a:lstStyle/>
          <a:p>
            <a:pPr algn="ctr"/>
            <a:r>
              <a:rPr lang="en-IN" dirty="0" smtClean="0"/>
              <a:t>MODULE  IMPLENTATION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09522" y="857232"/>
            <a:ext cx="11930146" cy="535531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en-US" b="1" dirty="0" smtClean="0"/>
              <a:t>MODULE 1 – WEB INTERFACE :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Web interface created for image upload using HTML form and Flask server connection</a:t>
            </a:r>
          </a:p>
          <a:p>
            <a:pPr rtl="0"/>
            <a:r>
              <a:rPr lang="en-US" dirty="0" smtClean="0"/>
              <a:t>	&lt;form method="post" </a:t>
            </a:r>
            <a:r>
              <a:rPr lang="en-US" dirty="0" err="1" smtClean="0"/>
              <a:t>enctype</a:t>
            </a:r>
            <a:r>
              <a:rPr lang="en-US" dirty="0" smtClean="0"/>
              <a:t>="multipart/form-data"&gt;</a:t>
            </a:r>
          </a:p>
          <a:p>
            <a:pPr rtl="0"/>
            <a:r>
              <a:rPr lang="en-US" dirty="0" smtClean="0"/>
              <a:t> 	&lt;input type="file" name="file" required&gt;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Image sent to server using HTTP POST request for backend processing</a:t>
            </a:r>
          </a:p>
          <a:p>
            <a:pPr rtl="0"/>
            <a:r>
              <a:rPr lang="en-US" dirty="0" smtClean="0"/>
              <a:t>	@</a:t>
            </a:r>
            <a:r>
              <a:rPr lang="en-US" dirty="0" err="1" smtClean="0"/>
              <a:t>app.route</a:t>
            </a:r>
            <a:r>
              <a:rPr lang="en-US" dirty="0" smtClean="0"/>
              <a:t>("/", methods=["GET","POST"]) </a:t>
            </a:r>
          </a:p>
          <a:p>
            <a:pPr rtl="0"/>
            <a:r>
              <a:rPr lang="en-US" dirty="0" smtClean="0"/>
              <a:t>	if </a:t>
            </a:r>
            <a:r>
              <a:rPr lang="en-US" dirty="0" err="1" smtClean="0"/>
              <a:t>request.method</a:t>
            </a:r>
            <a:r>
              <a:rPr lang="en-US" dirty="0" smtClean="0"/>
              <a:t> == "POST":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Uploaded image file received in Flask using </a:t>
            </a:r>
            <a:r>
              <a:rPr lang="en-US" dirty="0" err="1" smtClean="0"/>
              <a:t>request.files</a:t>
            </a:r>
            <a:r>
              <a:rPr lang="en-US" dirty="0" smtClean="0"/>
              <a:t>	</a:t>
            </a:r>
          </a:p>
          <a:p>
            <a:pPr rtl="0"/>
            <a:r>
              <a:rPr lang="en-US" dirty="0" smtClean="0"/>
              <a:t>	file = </a:t>
            </a:r>
            <a:r>
              <a:rPr lang="en-US" dirty="0" err="1" smtClean="0"/>
              <a:t>request.files</a:t>
            </a:r>
            <a:r>
              <a:rPr lang="en-US" dirty="0" smtClean="0"/>
              <a:t>["file"]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Secure file handling applied using </a:t>
            </a:r>
            <a:r>
              <a:rPr lang="en-US" dirty="0" err="1" smtClean="0"/>
              <a:t>secure_filename</a:t>
            </a:r>
            <a:r>
              <a:rPr lang="en-US" dirty="0" smtClean="0"/>
              <a:t>() to prevent invalid paths</a:t>
            </a:r>
          </a:p>
          <a:p>
            <a:pPr rtl="0"/>
            <a:r>
              <a:rPr lang="en-US" dirty="0" smtClean="0"/>
              <a:t>	from </a:t>
            </a:r>
            <a:r>
              <a:rPr lang="en-US" dirty="0" err="1" smtClean="0"/>
              <a:t>werkzeug.utils</a:t>
            </a:r>
            <a:r>
              <a:rPr lang="en-US" dirty="0" smtClean="0"/>
              <a:t> import </a:t>
            </a:r>
            <a:r>
              <a:rPr lang="en-US" dirty="0" err="1" smtClean="0"/>
              <a:t>secure_filename</a:t>
            </a:r>
            <a:r>
              <a:rPr lang="en-US" dirty="0" smtClean="0"/>
              <a:t> </a:t>
            </a:r>
          </a:p>
          <a:p>
            <a:pPr rtl="0"/>
            <a:r>
              <a:rPr lang="en-US" dirty="0" smtClean="0"/>
              <a:t>	filename = </a:t>
            </a:r>
            <a:r>
              <a:rPr lang="en-US" dirty="0" err="1" smtClean="0"/>
              <a:t>secure_filename</a:t>
            </a:r>
            <a:r>
              <a:rPr lang="en-US" dirty="0" smtClean="0"/>
              <a:t>(</a:t>
            </a:r>
            <a:r>
              <a:rPr lang="en-US" dirty="0" err="1" smtClean="0"/>
              <a:t>file.filename</a:t>
            </a:r>
            <a:r>
              <a:rPr lang="en-US" dirty="0" smtClean="0"/>
              <a:t>) 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Image stored in server directory uploads</a:t>
            </a:r>
            <a:r>
              <a:rPr lang="en-US" b="1" dirty="0" smtClean="0"/>
              <a:t>/</a:t>
            </a:r>
            <a:r>
              <a:rPr lang="en-US" dirty="0" smtClean="0"/>
              <a:t> for further processing</a:t>
            </a:r>
          </a:p>
          <a:p>
            <a:pPr rtl="0"/>
            <a:r>
              <a:rPr lang="en-US" dirty="0" smtClean="0"/>
              <a:t>	path = </a:t>
            </a:r>
            <a:r>
              <a:rPr lang="en-US" dirty="0" err="1" smtClean="0"/>
              <a:t>os.path.join</a:t>
            </a:r>
            <a:r>
              <a:rPr lang="en-US" dirty="0" smtClean="0"/>
              <a:t>("uploads", filename) </a:t>
            </a:r>
            <a:r>
              <a:rPr lang="en-US" dirty="0" err="1" smtClean="0"/>
              <a:t>file.save</a:t>
            </a:r>
            <a:r>
              <a:rPr lang="en-US" dirty="0" smtClean="0"/>
              <a:t>(path)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22" y="-214338"/>
            <a:ext cx="10205720" cy="2215991"/>
          </a:xfrm>
        </p:spPr>
        <p:txBody>
          <a:bodyPr/>
          <a:lstStyle/>
          <a:p>
            <a:r>
              <a:rPr lang="en-GB" dirty="0" smtClean="0"/>
              <a:t> </a:t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US" dirty="0" smtClean="0"/>
              <a:t>MODULE 2</a:t>
            </a:r>
            <a:r>
              <a:rPr lang="en-GB" dirty="0" smtClean="0"/>
              <a:t> - </a:t>
            </a:r>
            <a:r>
              <a:rPr lang="en-US" dirty="0" smtClean="0"/>
              <a:t>IMAGE PREPROCESSING: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084" y="842264"/>
            <a:ext cx="11430080" cy="4801314"/>
          </a:xfrm>
        </p:spPr>
        <p:txBody>
          <a:bodyPr/>
          <a:lstStyle/>
          <a:p>
            <a:endParaRPr lang="en-GB" dirty="0" smtClean="0"/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Images loaded into the system using </a:t>
            </a:r>
            <a:r>
              <a:rPr lang="en-GB" dirty="0" err="1" smtClean="0"/>
              <a:t>OpenCV</a:t>
            </a:r>
            <a:r>
              <a:rPr lang="en-GB" dirty="0" smtClean="0"/>
              <a:t> cv2.imread() to read the uploaded image file</a:t>
            </a:r>
          </a:p>
          <a:p>
            <a:pPr rtl="0"/>
            <a:r>
              <a:rPr lang="en-GB" dirty="0" smtClean="0"/>
              <a:t>	image = cv2.imread(path)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Images resized to a fixed dimension using cv2.resize() to ensure uniform analysis size</a:t>
            </a:r>
          </a:p>
          <a:p>
            <a:pPr rtl="0"/>
            <a:r>
              <a:rPr lang="en-GB" dirty="0" smtClean="0"/>
              <a:t>	image = cv2.resize(image, (256, 256))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Image converted from RGB to </a:t>
            </a:r>
            <a:r>
              <a:rPr lang="en-GB" dirty="0" err="1" smtClean="0"/>
              <a:t>grayscale</a:t>
            </a:r>
            <a:r>
              <a:rPr lang="en-GB" dirty="0" smtClean="0"/>
              <a:t> using cv2.cvtColor() for </a:t>
            </a:r>
            <a:r>
              <a:rPr lang="en-GB" dirty="0" err="1" smtClean="0"/>
              <a:t>intensity‑based</a:t>
            </a:r>
            <a:r>
              <a:rPr lang="en-GB" dirty="0" smtClean="0"/>
              <a:t> processing</a:t>
            </a:r>
          </a:p>
          <a:p>
            <a:pPr rtl="0"/>
            <a:r>
              <a:rPr lang="en-GB" dirty="0" smtClean="0"/>
              <a:t>	gray = cv2.cvtColor(image, cv2.COLOR_BGR2GRAY)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Noise reduction applied using cv2.GaussianBlur() to smooth the image and remove disturbances</a:t>
            </a:r>
          </a:p>
          <a:p>
            <a:pPr rtl="0"/>
            <a:r>
              <a:rPr lang="en-GB" dirty="0" smtClean="0"/>
              <a:t>	blurred = cv2.GaussianBlur(gray, (7, 7), 0) </a:t>
            </a:r>
          </a:p>
          <a:p>
            <a:pPr>
              <a:buFont typeface="Arial" pitchFamily="34" charset="0"/>
              <a:buChar char="•"/>
            </a:pPr>
            <a:r>
              <a:rPr lang="en-GB" dirty="0" smtClean="0"/>
              <a:t> Pixel intensity normalized using cv2.normalize() to balance brightness and contrast</a:t>
            </a:r>
          </a:p>
          <a:p>
            <a:pPr rtl="0"/>
            <a:r>
              <a:rPr lang="en-GB" dirty="0" smtClean="0"/>
              <a:t>	norm = cv2.normalize(blurred, None, 0, 255, cv2.NORM_MINMAX)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139" y="494157"/>
            <a:ext cx="10205720" cy="6647974"/>
          </a:xfrm>
        </p:spPr>
        <p:txBody>
          <a:bodyPr/>
          <a:lstStyle/>
          <a:p>
            <a:r>
              <a:rPr lang="en-US" dirty="0" smtClean="0"/>
              <a:t>MODULE </a:t>
            </a:r>
            <a:r>
              <a:rPr lang="en-US" dirty="0"/>
              <a:t>3 – FEATURE EXTRACTION MODULE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dirty="0"/>
              <a:t>• Frequency‑domain features extracted using Fast Fourier Transform (FFT) to analyze spectral artifacts</a:t>
            </a:r>
            <a:br>
              <a:rPr lang="en-US" b="0" dirty="0"/>
            </a:br>
            <a:r>
              <a:rPr lang="en-US" b="0" dirty="0"/>
              <a:t>  	f = np.fft.fft2(gray)</a:t>
            </a:r>
            <a:br>
              <a:rPr lang="en-US" b="0" dirty="0"/>
            </a:br>
            <a:r>
              <a:rPr lang="en-US" b="0" dirty="0"/>
              <a:t>  	</a:t>
            </a:r>
            <a:r>
              <a:rPr lang="en-US" b="0" dirty="0" err="1"/>
              <a:t>fshift</a:t>
            </a:r>
            <a:r>
              <a:rPr lang="en-US" b="0" dirty="0"/>
              <a:t> = </a:t>
            </a:r>
            <a:r>
              <a:rPr lang="en-US" b="0" dirty="0" err="1"/>
              <a:t>np.fft.fftshift</a:t>
            </a:r>
            <a:r>
              <a:rPr lang="en-US" b="0" dirty="0"/>
              <a:t>(f)</a:t>
            </a:r>
            <a:br>
              <a:rPr lang="en-US" b="0" dirty="0"/>
            </a:br>
            <a:r>
              <a:rPr lang="en-US" b="0" dirty="0"/>
              <a:t>• High‑frequency energy ratio computed to detect AI‑generated frequency patterns</a:t>
            </a:r>
            <a:br>
              <a:rPr lang="en-US" b="0" dirty="0"/>
            </a:br>
            <a:r>
              <a:rPr lang="en-US" b="0" dirty="0"/>
              <a:t>  	</a:t>
            </a:r>
            <a:r>
              <a:rPr lang="en-US" b="0" dirty="0" err="1"/>
              <a:t>fft_ratio</a:t>
            </a:r>
            <a:r>
              <a:rPr lang="en-US" b="0" dirty="0"/>
              <a:t> = </a:t>
            </a:r>
            <a:r>
              <a:rPr lang="en-US" b="0" dirty="0" err="1"/>
              <a:t>high_freq_energy</a:t>
            </a:r>
            <a:r>
              <a:rPr lang="en-US" b="0" dirty="0"/>
              <a:t> / </a:t>
            </a:r>
            <a:r>
              <a:rPr lang="en-US" b="0" dirty="0" err="1"/>
              <a:t>total_energy</a:t>
            </a:r>
            <a:r>
              <a:rPr lang="en-US" b="0" dirty="0"/>
              <a:t/>
            </a:r>
            <a:br>
              <a:rPr lang="en-US" b="0" dirty="0"/>
            </a:br>
            <a:r>
              <a:rPr lang="en-US" b="0" dirty="0"/>
              <a:t>• Noise characteristics extracted by subtracting Gaussian‑blurred image</a:t>
            </a:r>
            <a:br>
              <a:rPr lang="en-US" b="0" dirty="0"/>
            </a:br>
            <a:r>
              <a:rPr lang="en-US" b="0" dirty="0"/>
              <a:t>  	noise = </a:t>
            </a:r>
            <a:r>
              <a:rPr lang="en-US" b="0" dirty="0" err="1"/>
              <a:t>gray.astype</a:t>
            </a:r>
            <a:r>
              <a:rPr lang="en-US" b="0" dirty="0"/>
              <a:t>(float) - </a:t>
            </a:r>
            <a:r>
              <a:rPr lang="en-US" b="0" dirty="0" err="1"/>
              <a:t>blur.astype</a:t>
            </a:r>
            <a:r>
              <a:rPr lang="en-US" b="0" dirty="0"/>
              <a:t>(float)</a:t>
            </a:r>
            <a:br>
              <a:rPr lang="en-US" b="0" dirty="0"/>
            </a:br>
            <a:r>
              <a:rPr lang="en-US" b="0" dirty="0"/>
              <a:t>  	</a:t>
            </a:r>
            <a:r>
              <a:rPr lang="en-US" b="0" dirty="0" err="1"/>
              <a:t>noise_variance</a:t>
            </a:r>
            <a:r>
              <a:rPr lang="en-US" b="0" dirty="0"/>
              <a:t> = </a:t>
            </a:r>
            <a:r>
              <a:rPr lang="en-US" b="0" dirty="0" err="1"/>
              <a:t>np.var</a:t>
            </a:r>
            <a:r>
              <a:rPr lang="en-US" b="0" dirty="0"/>
              <a:t>(noise)</a:t>
            </a:r>
            <a:br>
              <a:rPr lang="en-US" b="0" dirty="0"/>
            </a:br>
            <a:r>
              <a:rPr lang="en-US" b="0" dirty="0"/>
              <a:t>• Texture randomness measured using Shannon Entropy</a:t>
            </a:r>
            <a:br>
              <a:rPr lang="en-US" b="0" dirty="0"/>
            </a:br>
            <a:r>
              <a:rPr lang="en-US" b="0" dirty="0"/>
              <a:t>  	entropy = </a:t>
            </a:r>
            <a:r>
              <a:rPr lang="en-US" b="0" dirty="0" err="1"/>
              <a:t>shannon_entropy</a:t>
            </a:r>
            <a:r>
              <a:rPr lang="en-US" b="0" dirty="0"/>
              <a:t>(gray)</a:t>
            </a:r>
            <a:br>
              <a:rPr lang="en-US" b="0" dirty="0"/>
            </a:br>
            <a:r>
              <a:rPr lang="en-US" b="0" dirty="0"/>
              <a:t>• Color dependency analyzed using RGB channel correlation</a:t>
            </a:r>
            <a:br>
              <a:rPr lang="en-US" b="0" dirty="0"/>
            </a:br>
            <a:r>
              <a:rPr lang="en-US" b="0" dirty="0"/>
              <a:t> 	 </a:t>
            </a:r>
            <a:r>
              <a:rPr lang="en-US" b="0" dirty="0" err="1"/>
              <a:t>corr</a:t>
            </a:r>
            <a:r>
              <a:rPr lang="en-US" b="0" dirty="0"/>
              <a:t> = </a:t>
            </a:r>
            <a:r>
              <a:rPr lang="en-US" b="0" dirty="0" err="1"/>
              <a:t>np.corrcoef</a:t>
            </a:r>
            <a:r>
              <a:rPr lang="en-US" b="0" dirty="0"/>
              <a:t>(</a:t>
            </a:r>
            <a:r>
              <a:rPr lang="en-US" b="0" dirty="0" err="1"/>
              <a:t>r.flatten</a:t>
            </a:r>
            <a:r>
              <a:rPr lang="en-US" b="0" dirty="0"/>
              <a:t>(), </a:t>
            </a:r>
            <a:r>
              <a:rPr lang="en-US" b="0" dirty="0" err="1"/>
              <a:t>g.flatten</a:t>
            </a:r>
            <a:r>
              <a:rPr lang="en-US" b="0" dirty="0"/>
              <a:t>())[0,1]</a:t>
            </a:r>
            <a:br>
              <a:rPr lang="en-US" b="0" dirty="0"/>
            </a:br>
            <a:r>
              <a:rPr lang="en-US" b="0" dirty="0"/>
              <a:t>• Compression artifacts detected using </a:t>
            </a:r>
            <a:r>
              <a:rPr lang="en-US" b="0" dirty="0" err="1"/>
              <a:t>blockiness</a:t>
            </a:r>
            <a:r>
              <a:rPr lang="en-US" b="0" dirty="0"/>
              <a:t> analysis across 8×8 pixel boundaries</a:t>
            </a:r>
            <a:br>
              <a:rPr lang="en-US" b="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303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139" y="116632"/>
            <a:ext cx="10205720" cy="751313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/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dirty="0"/>
              <a:t>MODULE 4 – MATHEMATICAL &amp; STATISTICAL ANALYSIS MODULE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r>
              <a:rPr lang="en-GB" b="0" dirty="0"/>
              <a:t>• Extracted feature values compared against predefined forensic thresholds</a:t>
            </a:r>
            <a:br>
              <a:rPr lang="en-GB" b="0" dirty="0"/>
            </a:br>
            <a:r>
              <a:rPr lang="en-GB" b="0" dirty="0"/>
              <a:t>  	if </a:t>
            </a:r>
            <a:r>
              <a:rPr lang="en-GB" b="0" dirty="0" err="1"/>
              <a:t>fft_ratio</a:t>
            </a:r>
            <a:r>
              <a:rPr lang="en-GB" b="0" dirty="0"/>
              <a:t> &gt; 0.85:</a:t>
            </a:r>
            <a:br>
              <a:rPr lang="en-GB" b="0" dirty="0"/>
            </a:br>
            <a:r>
              <a:rPr lang="en-GB" b="0" dirty="0"/>
              <a:t>• Rule‑based scoring applied to identify suspicious image characteristics</a:t>
            </a:r>
            <a:br>
              <a:rPr lang="en-GB" b="0" dirty="0"/>
            </a:br>
            <a:r>
              <a:rPr lang="en-GB" b="0" dirty="0"/>
              <a:t>  	</a:t>
            </a:r>
            <a:r>
              <a:rPr lang="en-GB" b="0" dirty="0" err="1"/>
              <a:t>rule_score</a:t>
            </a:r>
            <a:r>
              <a:rPr lang="en-GB" b="0" dirty="0"/>
              <a:t> += weight</a:t>
            </a:r>
            <a:br>
              <a:rPr lang="en-GB" b="0" dirty="0"/>
            </a:br>
            <a:r>
              <a:rPr lang="en-GB" b="0" dirty="0"/>
              <a:t>• Feature normalization performed to balance different value ranges</a:t>
            </a:r>
            <a:br>
              <a:rPr lang="en-GB" b="0" dirty="0"/>
            </a:br>
            <a:r>
              <a:rPr lang="en-GB" b="0" dirty="0"/>
              <a:t>  	</a:t>
            </a:r>
            <a:r>
              <a:rPr lang="en-GB" b="0" dirty="0" err="1"/>
              <a:t>normalized_score</a:t>
            </a:r>
            <a:r>
              <a:rPr lang="en-GB" b="0" dirty="0"/>
              <a:t> = </a:t>
            </a:r>
            <a:r>
              <a:rPr lang="en-GB" b="0" dirty="0" err="1"/>
              <a:t>rule_score</a:t>
            </a:r>
            <a:r>
              <a:rPr lang="en-GB" b="0" dirty="0"/>
              <a:t> / </a:t>
            </a:r>
            <a:r>
              <a:rPr lang="en-GB" b="0" dirty="0" err="1"/>
              <a:t>max_score</a:t>
            </a:r>
            <a:r>
              <a:rPr lang="en-GB" b="0" dirty="0"/>
              <a:t/>
            </a:r>
            <a:br>
              <a:rPr lang="en-GB" b="0" dirty="0"/>
            </a:br>
            <a:r>
              <a:rPr lang="en-GB" b="0" dirty="0"/>
              <a:t>• Statistical confidence calculated using weighted feature contributions</a:t>
            </a:r>
            <a:br>
              <a:rPr lang="en-GB" b="0" dirty="0"/>
            </a:br>
            <a:r>
              <a:rPr lang="en-GB" b="0" dirty="0"/>
              <a:t> 	 </a:t>
            </a:r>
            <a:r>
              <a:rPr lang="en-GB" b="0" dirty="0" err="1"/>
              <a:t>final_score</a:t>
            </a:r>
            <a:r>
              <a:rPr lang="en-GB" b="0" dirty="0"/>
              <a:t> = 0.7 * </a:t>
            </a:r>
            <a:r>
              <a:rPr lang="en-GB" b="0" dirty="0" err="1"/>
              <a:t>ml_prob</a:t>
            </a:r>
            <a:r>
              <a:rPr lang="en-GB" b="0" dirty="0"/>
              <a:t> + 0.3 * </a:t>
            </a:r>
            <a:r>
              <a:rPr lang="en-GB" b="0" dirty="0" err="1"/>
              <a:t>rule_score</a:t>
            </a:r>
            <a:r>
              <a:rPr lang="en-GB" b="0" dirty="0"/>
              <a:t/>
            </a:r>
            <a:br>
              <a:rPr lang="en-GB" b="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9375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139" y="494157"/>
            <a:ext cx="10205720" cy="369332"/>
          </a:xfrm>
        </p:spPr>
        <p:txBody>
          <a:bodyPr/>
          <a:lstStyle/>
          <a:p>
            <a:r>
              <a:rPr lang="en-IN" dirty="0" smtClean="0"/>
              <a:t>SNAP SHOTS: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464" y="1052835"/>
            <a:ext cx="6137275" cy="309054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 descr="Screenshot 2026-02-04 1715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26" y="944825"/>
            <a:ext cx="9024958" cy="39843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06" y="494157"/>
            <a:ext cx="10205653" cy="610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4738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139" y="494157"/>
            <a:ext cx="10205720" cy="585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494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14487</TotalTime>
  <Words>980</Words>
  <Application>Microsoft Office PowerPoint</Application>
  <PresentationFormat>Widescreen</PresentationFormat>
  <Paragraphs>227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Arial MT</vt:lpstr>
      <vt:lpstr>Calibri</vt:lpstr>
      <vt:lpstr>Times New Roman</vt:lpstr>
      <vt:lpstr>Wingdings</vt:lpstr>
      <vt:lpstr>Office Theme</vt:lpstr>
      <vt:lpstr>PowerPoint Presentation</vt:lpstr>
      <vt:lpstr>OBJECTIVE</vt:lpstr>
      <vt:lpstr>ABSTRACT</vt:lpstr>
      <vt:lpstr>LITERATURE  SURVEY</vt:lpstr>
      <vt:lpstr>PowerPoint Presentation</vt:lpstr>
      <vt:lpstr>PowerPoint Presentation</vt:lpstr>
      <vt:lpstr>EXISTING  SYSTEM</vt:lpstr>
      <vt:lpstr>PROBLEM  STATEMENT</vt:lpstr>
      <vt:lpstr>PROPOSED  SYSTEM</vt:lpstr>
      <vt:lpstr>PROPOSED  SYSTEM</vt:lpstr>
      <vt:lpstr>System Specification</vt:lpstr>
      <vt:lpstr>Software Requirements</vt:lpstr>
      <vt:lpstr> BLOCK  DAIGRAM  OF  DEEPFAKE DETECTION</vt:lpstr>
      <vt:lpstr>   PROJECT  DESCRIPTION  </vt:lpstr>
      <vt:lpstr>PowerPoint Presentation</vt:lpstr>
      <vt:lpstr>PowerPoint Presentation</vt:lpstr>
      <vt:lpstr>PowerPoint Presentation</vt:lpstr>
      <vt:lpstr>   Module 5: Result &amp; Report Module </vt:lpstr>
      <vt:lpstr>MODULE  IMPLENTATION</vt:lpstr>
      <vt:lpstr>   MODULE 2 - IMAGE PREPROCESSING:   </vt:lpstr>
      <vt:lpstr>MODULE 3 – FEATURE EXTRACTION MODULE  • Frequency‑domain features extracted using Fast Fourier Transform (FFT) to analyze spectral artifacts    f = np.fft.fft2(gray)    fshift = np.fft.fftshift(f) • High‑frequency energy ratio computed to detect AI‑generated frequency patterns    fft_ratio = high_freq_energy / total_energy • Noise characteristics extracted by subtracting Gaussian‑blurred image    noise = gray.astype(float) - blur.astype(float)    noise_variance = np.var(noise) • Texture randomness measured using Shannon Entropy    entropy = shannon_entropy(gray) • Color dependency analyzed using RGB channel correlation    corr = np.corrcoef(r.flatten(), g.flatten())[0,1] • Compression artifacts detected using blockiness analysis across 8×8 pixel boundaries </vt:lpstr>
      <vt:lpstr>  MODULE 4 – MATHEMATICAL &amp; STATISTICAL ANALYSIS MODULE  • Extracted feature values compared against predefined forensic thresholds    if fft_ratio &gt; 0.85: • Rule‑based scoring applied to identify suspicious image characteristics    rule_score += weight • Feature normalization performed to balance different value ranges    normalized_score = rule_score / max_score • Statistical confidence calculated using weighted feature contributions    final_score = 0.7 * ml_prob + 0.3 * rule_score </vt:lpstr>
      <vt:lpstr>SNAP SHOTS: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- AI pushed interactive agri bot offering realtime help in cultivation and marketplace linkages</dc:title>
  <dc:creator>kumaresan</dc:creator>
  <cp:lastModifiedBy>Dineshkumar.S</cp:lastModifiedBy>
  <cp:revision>254</cp:revision>
  <dcterms:created xsi:type="dcterms:W3CDTF">2026-01-05T08:03:54Z</dcterms:created>
  <dcterms:modified xsi:type="dcterms:W3CDTF">2026-02-26T11:00:15Z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2026-01-05T00:00:00Z</vt:filetime>
  </property>
  <property fmtid="{D5CDD505-2E9C-101B-9397-08002B2CF9AE}" pid="5" name="Producer">
    <vt:lpwstr>Microsoft® PowerPoint® 2019</vt:lpwstr>
  </property>
</Properties>
</file>